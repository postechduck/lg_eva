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90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47KwpOd7i5yRBfEAatDaN1deR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0301A6-D544-4107-A365-321783EAC5CD}">
  <a:tblStyle styleId="{570301A6-D544-4107-A365-321783EAC5C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2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칼만 필터(Kalman filter) 적용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물체가 다음 프레임에서 어디쯤 있을지 미리 예측해두고, 실제로 관측된 값과 섞어서 더 가능성 높은 위치 추정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프레임마다 위치가 들쭉날쭉 하거나 일부 객체가 잘 보이지 않는 경우 대비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Exponential Moving Average(EMA) 기반 feature 업데이트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차량의 생김새 feature를 매 프레임마다 새 값으로 갈아치우지 말고, 이전 정보를 적당히 섞어서 천천히 갱신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차량 일부가 가려지거나 박스가 틀어지는 등 detection noise 발생 대비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4" name="Google Shape;23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7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6" name="Google Shape;25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9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1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2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3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5" name="Google Shape;30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4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5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:notes"/>
          <p:cNvSpPr txBox="1"/>
          <p:nvPr>
            <p:ph idx="1" type="body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6:notes"/>
          <p:cNvSpPr/>
          <p:nvPr>
            <p:ph idx="2" type="sldImg"/>
          </p:nvPr>
        </p:nvSpPr>
        <p:spPr>
          <a:xfrm>
            <a:off x="1200150" y="1143000"/>
            <a:ext cx="445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ctrTitle"/>
          </p:nvPr>
        </p:nvSpPr>
        <p:spPr>
          <a:xfrm>
            <a:off x="555477" y="758952"/>
            <a:ext cx="8844576" cy="2317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Malgun Gothic"/>
              <a:buNone/>
              <a:defRPr sz="4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555477" y="3825963"/>
            <a:ext cx="88445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9"/>
          <p:cNvCxnSpPr/>
          <p:nvPr/>
        </p:nvCxnSpPr>
        <p:spPr>
          <a:xfrm>
            <a:off x="555477" y="3478138"/>
            <a:ext cx="8844576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Char char="⎻"/>
              <a:defRPr sz="14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✓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280988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825"/>
              <a:buFont typeface="Arial"/>
              <a:buChar char="◼"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indent="-29527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50"/>
              <a:buFont typeface="Helvetica Neue"/>
              <a:buChar char="‣"/>
              <a:defRPr sz="1050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showMasterSp="0">
  <p:cSld name="구역 머리글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91540" y="758952"/>
            <a:ext cx="8172450" cy="2563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Malgun Gothic"/>
              <a:buNone/>
              <a:defRPr b="1" sz="36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" name="Google Shape;34;p11"/>
          <p:cNvCxnSpPr/>
          <p:nvPr/>
        </p:nvCxnSpPr>
        <p:spPr>
          <a:xfrm>
            <a:off x="981223" y="3429000"/>
            <a:ext cx="80238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91540" y="3535685"/>
            <a:ext cx="8172449" cy="2248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>
  <p:cSld name="콘텐츠 2개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217715" y="832338"/>
            <a:ext cx="468575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5052059" y="832338"/>
            <a:ext cx="464741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2"/>
          <p:cNvSpPr txBox="1"/>
          <p:nvPr/>
        </p:nvSpPr>
        <p:spPr>
          <a:xfrm>
            <a:off x="217715" y="149874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마스터 제목 스타일 편집</a:t>
            </a:r>
            <a:endParaRPr b="1" i="0" sz="28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>
  <p:cSld name="비교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217715" y="802703"/>
            <a:ext cx="4685755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217715" y="1654974"/>
            <a:ext cx="4685755" cy="4687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3" type="body"/>
          </p:nvPr>
        </p:nvSpPr>
        <p:spPr>
          <a:xfrm>
            <a:off x="5052059" y="802703"/>
            <a:ext cx="4647417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3"/>
          <p:cNvSpPr txBox="1"/>
          <p:nvPr>
            <p:ph idx="4" type="body"/>
          </p:nvPr>
        </p:nvSpPr>
        <p:spPr>
          <a:xfrm>
            <a:off x="5052060" y="1654973"/>
            <a:ext cx="4647416" cy="4687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3"/>
          <p:cNvSpPr txBox="1"/>
          <p:nvPr>
            <p:ph type="title"/>
          </p:nvPr>
        </p:nvSpPr>
        <p:spPr>
          <a:xfrm>
            <a:off x="217715" y="149874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  <a:defRPr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 rot="5400000">
            <a:off x="2203966" y="-1129001"/>
            <a:ext cx="5509260" cy="9481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Malgun Gothic"/>
              <a:buNone/>
              <a:defRPr b="1" i="0" sz="2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217715" y="857250"/>
            <a:ext cx="9481762" cy="5509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1" i="0" sz="18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Char char="◦"/>
              <a:defRPr b="0" i="0" sz="16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91542" y="6459787"/>
            <a:ext cx="20087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8"/>
          <p:cNvCxnSpPr/>
          <p:nvPr/>
        </p:nvCxnSpPr>
        <p:spPr>
          <a:xfrm>
            <a:off x="217715" y="686713"/>
            <a:ext cx="9481762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hyperlink" Target="http://openaccess.thecvf.com/content/CVPR2024/papers/Zhao_DETRs_Beat_YOLOs_on_Real-time_Object_Detection_CVPR_2024_paper.pdf" TargetMode="External"/><Relationship Id="rId10" Type="http://schemas.openxmlformats.org/officeDocument/2006/relationships/hyperlink" Target="https://ieeexplore.ieee.org/iel7/7328364/7350743/07351516.pdf" TargetMode="External"/><Relationship Id="rId13" Type="http://schemas.openxmlformats.org/officeDocument/2006/relationships/hyperlink" Target="https://ieeexplore.ieee.org/iel7/7328364/7350743/07351516.pdf" TargetMode="External"/><Relationship Id="rId12" Type="http://schemas.openxmlformats.org/officeDocument/2006/relationships/hyperlink" Target="https://arxiv.org/pdf/2110.06864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penaccess.thecvf.com/content/ICCV2021/papers/Revaud_Robust_Automatic_Monocular_Vehicle_Speed_Estimation_for_Traffic_Surveillance_ICCV_2021_paper.pdf" TargetMode="External"/><Relationship Id="rId4" Type="http://schemas.openxmlformats.org/officeDocument/2006/relationships/hyperlink" Target="https://www.nature.com/articles/s41598-025-87077-6.pdf" TargetMode="External"/><Relationship Id="rId9" Type="http://schemas.openxmlformats.org/officeDocument/2006/relationships/hyperlink" Target="https://link.springer.com/article/10.1007/s11554-025-01704-z" TargetMode="External"/><Relationship Id="rId5" Type="http://schemas.openxmlformats.org/officeDocument/2006/relationships/hyperlink" Target="https://link.springer.com/content/pdf/10.1007/s11554-025-01704-z.pdf" TargetMode="External"/><Relationship Id="rId6" Type="http://schemas.openxmlformats.org/officeDocument/2006/relationships/hyperlink" Target="http://openaccess.thecvf.com/content_cvpr_2018_workshops/papers/w3/Kumar_A_Semi-Automatic_2D_CVPR_2018_paper.pdf" TargetMode="External"/><Relationship Id="rId7" Type="http://schemas.openxmlformats.org/officeDocument/2006/relationships/hyperlink" Target="https://ieeexplore.ieee.org/document/638601" TargetMode="External"/><Relationship Id="rId8" Type="http://schemas.openxmlformats.org/officeDocument/2006/relationships/hyperlink" Target="https://www.sciencedirect.com/science/article/abs/pii/S1077314217301108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hyperlink" Target="https://journals.plos.org/plosone/article/file?id=10.1371/journal.pone.0333928&amp;type=printable" TargetMode="External"/><Relationship Id="rId10" Type="http://schemas.openxmlformats.org/officeDocument/2006/relationships/hyperlink" Target="http://openaccess.thecvf.com/content/CVPR2025/papers/Chen_Video_Depth_Anything_Consistent_Depth_Estimation_for_Super-Long_Videos_CVPR_2025_paper.pdf" TargetMode="External"/><Relationship Id="rId13" Type="http://schemas.openxmlformats.org/officeDocument/2006/relationships/hyperlink" Target="https://www.mdpi.com/1424-8220/25/11/3327" TargetMode="External"/><Relationship Id="rId12" Type="http://schemas.openxmlformats.org/officeDocument/2006/relationships/hyperlink" Target="http://openaccess.thecvf.com/content/CVPR2024/papers/Piccinelli_UniDepth_Universal_Monocular_Metric_Depth_Estimation_CVPR_2024_paper.pdf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ink.springer.com/content/pdf/10.1007/s00138-020-01117-x.pdf" TargetMode="External"/><Relationship Id="rId4" Type="http://schemas.openxmlformats.org/officeDocument/2006/relationships/hyperlink" Target="https://ieeexplore.ieee.org/iel7/6979/8703754/08356199.pdf" TargetMode="External"/><Relationship Id="rId9" Type="http://schemas.openxmlformats.org/officeDocument/2006/relationships/hyperlink" Target="https://openaccess.thecvf.com/content/WACV2024/papers/Rothmeier_Time_To_Shine_Fine-Tuning_Object_Detection_Models_With_Synthetic_Adverse_WACV_2024_paper.pdf" TargetMode="External"/><Relationship Id="rId15" Type="http://schemas.openxmlformats.org/officeDocument/2006/relationships/hyperlink" Target="https://openaccess.thecvf.com/content/WACV2024/papers/Vuong_Toward_Planet-Wide_Traffic_Camera_Calibration_WACV_2024_paper.pdf" TargetMode="External"/><Relationship Id="rId14" Type="http://schemas.openxmlformats.org/officeDocument/2006/relationships/hyperlink" Target="https://ieeexplore.ieee.org/iel8/34/4359286/11224609.pdf" TargetMode="External"/><Relationship Id="rId17" Type="http://schemas.openxmlformats.org/officeDocument/2006/relationships/hyperlink" Target="https://arxiv.org/pdf/2101.06159" TargetMode="External"/><Relationship Id="rId16" Type="http://schemas.openxmlformats.org/officeDocument/2006/relationships/hyperlink" Target="https://openaccess.thecvf.com/content/ICCV2025/papers/Xia_TrafficLoc_Localizing_Traffic_Surveillance_Cameras_in_3D_Scenes_ICCV_2025_paper.pdf" TargetMode="External"/><Relationship Id="rId5" Type="http://schemas.openxmlformats.org/officeDocument/2006/relationships/hyperlink" Target="http://openaccess.thecvf.com/content_WACV_2020/papers/Ali_Real-time_vehicle_distance_estimation_using_single_view_geometry_WACV_2020_paper.pdf" TargetMode="External"/><Relationship Id="rId6" Type="http://schemas.openxmlformats.org/officeDocument/2006/relationships/hyperlink" Target="https://arxiv.org/pdf/2410.02073" TargetMode="External"/><Relationship Id="rId7" Type="http://schemas.openxmlformats.org/officeDocument/2006/relationships/hyperlink" Target="http://openaccess.thecvf.com/content/ICCV2023/papers/Yin_Metric3D_Towards_Zero-shot_Metric_3D_Prediction_from_A_Single_Image_ICCV_2023_paper.pdf" TargetMode="External"/><Relationship Id="rId8" Type="http://schemas.openxmlformats.org/officeDocument/2006/relationships/hyperlink" Target="https://openaccess.thecvf.com/content/CVPR2025/papers/Guo_Depth_Any_Camera_Zero-Shot_Metric_Depth_Estimation_from_Any_Camera_CVPR_2025_paper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381419" y="777240"/>
            <a:ext cx="9143162" cy="25521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3600"/>
              <a:t>단안 CCTV 기반 객체 속도 구간 판별 및 EVA 이벤트 해석 지원</a:t>
            </a:r>
            <a:endParaRPr/>
          </a:p>
        </p:txBody>
      </p:sp>
      <p:pic>
        <p:nvPicPr>
          <p:cNvPr id="69" name="Google Shape;6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769" y="5811387"/>
            <a:ext cx="2516065" cy="39467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1019175" y="3935295"/>
            <a:ext cx="8172450" cy="146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포항공과대학교 산업경영공학과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연구 책임자: 송민석 교수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(mssong@postech.ac.kr, 010-9498-9285) 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목차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217715" y="879231"/>
            <a:ext cx="9481762" cy="5664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프로젝트 개요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연구 목표 및 내용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개발 요구 사항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UX 시나리오 및 역할 분담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기대 효과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연구 개요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연구 동향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연구 세부 내용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일정 계획</a:t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프로젝트 개요</a:t>
            </a:r>
            <a:endParaRPr/>
          </a:p>
        </p:txBody>
      </p:sp>
      <p:sp>
        <p:nvSpPr>
          <p:cNvPr id="85" name="Google Shape;85;p3"/>
          <p:cNvSpPr txBox="1"/>
          <p:nvPr>
            <p:ph idx="1" type="body"/>
          </p:nvPr>
        </p:nvSpPr>
        <p:spPr>
          <a:xfrm>
            <a:off x="217715" y="879231"/>
            <a:ext cx="9481762" cy="582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제안 배경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다양한 산업군에서 객체의 존재 여부 및 이동 속도, 방향 같은 동적 정보에 대한 수요 상승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현재 시스템은 정적 객체 검출에 머물러 실제 현장에서 의미 있는 속도 정보를 추론하는 데 한계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속도 정보가 없으면 과속·위험 상황 탐지 등 응용 시나리오가 제한됨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기술적 배경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Object tracking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서로 다른 프레임에서 동일한 객체 검출 및 추적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Calibration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카메라의 내부·외부 기하적인 정보를 추정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추정한 정보를 이용해 객체의 이미지 위치를 도로 위 좌표로 투영 가능 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VLM 연계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객체의 속도·방향·상태를 자연어로 설명하거나 이벤트를 판단하기 위해, 최신 VLM(Qwen3‑8B)과 연동하여 메타 정보를 전달</a:t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목표 및 내용</a:t>
            </a:r>
            <a:endParaRPr/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217715" y="879230"/>
            <a:ext cx="9481762" cy="5945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 객체 추적 기반 시계열 위치 추정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실시간 CCTV/카메라 영상에서 객체를 검출하고 고유 ID를 유지하는 tracking 파이프라인 구축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프레임별 객체 위치를 기록하여 동일 객체의 연속 궤적 생성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검출 누락, ID switching, 저FPS 환경에서도 안정적으로 궤적을 유지하는 로직 설계</a:t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자동 calibration 및 실제 거리 변환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카메라의 내부·외부 기하적인 정보를 추정하여 이미지 좌표를 도로 평면 좌표로 변환할 수 있는 조건 확립 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2D 픽셀 좌표를 실제 공간 좌표로 변환하는 IPM/homography 기반 변환 모듈 설계</a:t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목표 및 내용</a:t>
            </a:r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217715" y="879230"/>
            <a:ext cx="9481762" cy="5945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도로 좌표계 기반 이동량 및 속도 추정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Calibration 정보를 바탕으로 tracking 하는 object의 도로 좌표계상 좌표를 추정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시간 간격을 반영하여 객체의 구간 이동 속도 계산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평균 1FPS 이하 환경에서는 누적 이동량/구간 평균 기반 속도 추정 로직 설계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FPS 변화에 따른 속도 추정 오차를 분석하여 적정 운영 FPS 도출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연속 프레임 간 객체 위치 변화를 이용해  단위 이동량 산출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도로 좌표 상 이동 거리를 실제 거리(m)로 환산하여 물리적 속도(km/h) 추정 가능 구조 확보</a:t>
            </a:r>
            <a:endParaRPr/>
          </a:p>
          <a:p>
            <a:pPr indent="-2286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의미적 가공과 VLM 연계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객체별 속도를 구조화된 메타 정보로 생성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다중 객체 상황을 요약 가능한 형태로 가공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VLM(Qwen3‑8B-fp8)이 이해 가능한 입력 포맷으로 변환하여 상황 해석, 이벤트 판단, 설명 생성에 활용</a:t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개발 요구 사항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개발 요구 사항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소프트웨어 모듈: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실시간 객체 추적·속도 추정 통합 파이프라인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카메라 calibration 및 IPM 변환 모듈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코드와 기술 문서 등</a:t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정밀도 분석: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저 FPS(예: 0.5~3 FPS) 환경에서의 빠름/느림 및 속도 구간 판별 성능 검토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야간·다종 객체(버스·트럭·자동차·지게차) 조건에서의 강건성 평가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카메라 위치와 FPS별 속도 추정 정확도 분석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실제 차량 속도 대비 비전 기반 속도 측정 오차 분석</a:t>
            </a:r>
            <a:endParaRPr/>
          </a:p>
        </p:txBody>
      </p:sp>
      <p:sp>
        <p:nvSpPr>
          <p:cNvPr id="107" name="Google Shape;107;p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개발 요구 사항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개발 요구 사항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실시간 처리 성능 분석: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 FHD 해상도에서 지연시간 100ms 이하 검증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다중 카메라 동시 서비스 환경에서의 처리 시간 및 자원 사용량 평가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저 FPS 환경에서의 tracking 안정성 및 ID switching 검토</a:t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VLM 연동 API: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추정된 메타 정보를 Qwen3 API로 전송할 수 있는 인터페이스 설계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VLM 출력(상황 설명·이벤트 분류) 시스템 통합</a:t>
            </a:r>
            <a:endParaRPr/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UX 시나리오 및 역할 분담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UX 시나리오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사용자가 영상에서 두 지점을 선택하여 실제 거리를 입력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특정 객체를 선택한 뒤 알림 임계값(예: 30 km/h)을 설정하면 시스템이 해당 객체의 속도를 실시간으로 추정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초과 시 알림이 발생 및 추적 결과 자연어 보고서 제공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역할 분담</a:t>
            </a:r>
            <a:endParaRPr sz="2000"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POSTECH: </a:t>
            </a:r>
            <a:r>
              <a:rPr lang="en-US"/>
              <a:t>객체 추적 ·속도 추정 시스템/알고리즘 설계, 자동 calibaration 방법 연구, VLM 연동 연구, 데이터 수집 및 성능 분석 보고서 작성</a:t>
            </a:r>
            <a:endParaRPr sz="1800"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LG전자: </a:t>
            </a:r>
            <a:r>
              <a:rPr lang="en-US"/>
              <a:t>요구사항 제공(운영 시나리오), 시스템 연동 요구 사항 (API/배포) 정의, UX 설계 및 사용자 피드백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800"/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기대 효과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정량적 기대 효과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속도 기반 이상 행동, 위험 상황, 과속 이벤트를 자동으로 감지함으로써 안전 관리와 교통·물류 모니터링 서비스를 확장 가능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다중 객체의 속도 정보를 구조화하여 이상 행동 분석, 군중 흐름 분석 등 새로운 응용 가능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실시간 처리와 자동 calibration을 통한 확장성 증가로 운영 효율 향상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정성적 기대 효과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VLM 연계를 통한 사용자의 객체의 행동과 상황에 대한 이해도 향상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추후 정밀한 속도 추정을 통한 교통단속, 산업현장 안전 모니터링, 물류 로봇 협업 등 다양한 분야에 적용 가능</a:t>
            </a:r>
            <a:endParaRPr/>
          </a:p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개요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객체 추적·속도 추정 framework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 검출 모델과 객체 추적 알고리즘을 결합하여 각 객체에 고유 ID를 부여한 뒤 연속 프레임 간 이동 거리를 계산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자동 calibration 및 실제 거리 변환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카메라의 내·외부 파라미터를 자동으로 추정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IPM을 통해 픽셀 좌표를 실제 거리로 변환하여 원근 왜곡 제거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실제 차량의 3D 스케일 정보를 통해 도로 좌표계 상 거리를 실제 거리(m)로 변환하는 scale 추론 </a:t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속도 정보의 의미적 가공 및 VLM 연계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객체의 속도 정보를 구조화된 메타데이터로 가공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생성된 메타 데이터를 Qwen3 8B모델에 전달하여 상황 해석, 이벤트 판단, 자연어 설명 생성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개요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217715" y="726117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도식화</a:t>
            </a:r>
            <a:endParaRPr/>
          </a:p>
        </p:txBody>
      </p:sp>
      <p:sp>
        <p:nvSpPr>
          <p:cNvPr id="142" name="Google Shape;142;p20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3" name="Google Shape;143;p20"/>
          <p:cNvGrpSpPr/>
          <p:nvPr/>
        </p:nvGrpSpPr>
        <p:grpSpPr>
          <a:xfrm>
            <a:off x="384894" y="810792"/>
            <a:ext cx="9165506" cy="5947619"/>
            <a:chOff x="384894" y="810792"/>
            <a:chExt cx="9165506" cy="5947619"/>
          </a:xfrm>
        </p:grpSpPr>
        <p:sp>
          <p:nvSpPr>
            <p:cNvPr id="144" name="Google Shape;144;p20"/>
            <p:cNvSpPr/>
            <p:nvPr/>
          </p:nvSpPr>
          <p:spPr>
            <a:xfrm>
              <a:off x="7614688" y="4890194"/>
              <a:ext cx="1935712" cy="983486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2704442" y="4413626"/>
              <a:ext cx="4414070" cy="1327885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2704442" y="2773175"/>
              <a:ext cx="5758143" cy="1123668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465219" y="1355836"/>
              <a:ext cx="9068247" cy="1101032"/>
            </a:xfrm>
            <a:prstGeom prst="rect">
              <a:avLst/>
            </a:prstGeom>
            <a:solidFill>
              <a:srgbClr val="F2F2F2"/>
            </a:solidFill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20"/>
            <p:cNvCxnSpPr>
              <a:stCxn id="149" idx="2"/>
              <a:endCxn id="150" idx="1"/>
            </p:cNvCxnSpPr>
            <p:nvPr/>
          </p:nvCxnSpPr>
          <p:spPr>
            <a:xfrm flipH="1" rot="10800000">
              <a:off x="1732088" y="5476001"/>
              <a:ext cx="5999100" cy="896700"/>
            </a:xfrm>
            <a:prstGeom prst="bentConnector3">
              <a:avLst>
                <a:gd fmla="val 94049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sp>
          <p:nvSpPr>
            <p:cNvPr id="151" name="Google Shape;151;p20"/>
            <p:cNvSpPr txBox="1"/>
            <p:nvPr/>
          </p:nvSpPr>
          <p:spPr>
            <a:xfrm>
              <a:off x="2423989" y="6270986"/>
              <a:ext cx="671613" cy="215444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경보 기준</a:t>
              </a:r>
              <a:endParaRPr/>
            </a:p>
          </p:txBody>
        </p:sp>
        <p:cxnSp>
          <p:nvCxnSpPr>
            <p:cNvPr id="152" name="Google Shape;152;p20"/>
            <p:cNvCxnSpPr>
              <a:stCxn id="153" idx="2"/>
              <a:endCxn id="154" idx="0"/>
            </p:cNvCxnSpPr>
            <p:nvPr/>
          </p:nvCxnSpPr>
          <p:spPr>
            <a:xfrm flipH="1" rot="-5400000">
              <a:off x="4321943" y="2858553"/>
              <a:ext cx="1073700" cy="27165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sp>
          <p:nvSpPr>
            <p:cNvPr id="155" name="Google Shape;155;p20"/>
            <p:cNvSpPr/>
            <p:nvPr/>
          </p:nvSpPr>
          <p:spPr>
            <a:xfrm>
              <a:off x="7853201" y="4125011"/>
              <a:ext cx="1466972" cy="569388"/>
            </a:xfrm>
            <a:prstGeom prst="can">
              <a:avLst>
                <a:gd fmla="val 25000" name="adj"/>
              </a:avLst>
            </a:prstGeom>
            <a:solidFill>
              <a:srgbClr val="BFBFBF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0"/>
            <p:cNvSpPr/>
            <p:nvPr/>
          </p:nvSpPr>
          <p:spPr>
            <a:xfrm>
              <a:off x="390527" y="2956707"/>
              <a:ext cx="1346581" cy="643342"/>
            </a:xfrm>
            <a:prstGeom prst="can">
              <a:avLst>
                <a:gd fmla="val 25000" name="adj"/>
              </a:avLst>
            </a:prstGeom>
            <a:solidFill>
              <a:srgbClr val="BFBFBF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390527" y="4734236"/>
              <a:ext cx="1346581" cy="643342"/>
            </a:xfrm>
            <a:prstGeom prst="can">
              <a:avLst>
                <a:gd fmla="val 25000" name="adj"/>
              </a:avLst>
            </a:prstGeom>
            <a:solidFill>
              <a:srgbClr val="BFBFBF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7691753" y="6242115"/>
              <a:ext cx="1724177" cy="305696"/>
            </a:xfrm>
            <a:prstGeom prst="parallelogram">
              <a:avLst>
                <a:gd fmla="val 25000" name="adj"/>
              </a:avLst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423719" y="6219853"/>
              <a:ext cx="1346581" cy="305696"/>
            </a:xfrm>
            <a:prstGeom prst="parallelogram">
              <a:avLst>
                <a:gd fmla="val 25000" name="adj"/>
              </a:avLst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7731320" y="5167720"/>
              <a:ext cx="1710735" cy="61647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5444016" y="4753795"/>
              <a:ext cx="1545889" cy="586805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2850712" y="2886972"/>
              <a:ext cx="1299661" cy="79298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2879189" y="4561390"/>
              <a:ext cx="1346582" cy="995321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6621622" y="2975999"/>
              <a:ext cx="1718645" cy="61647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7945479" y="1631972"/>
              <a:ext cx="1470451" cy="616474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5426452" y="1665492"/>
              <a:ext cx="1632435" cy="579586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3155635" y="1563912"/>
              <a:ext cx="1417741" cy="791232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576008" y="1563912"/>
              <a:ext cx="1632435" cy="791232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4047310" y="810792"/>
              <a:ext cx="1926769" cy="305696"/>
            </a:xfrm>
            <a:prstGeom prst="parallelogram">
              <a:avLst>
                <a:gd fmla="val 25000" name="adj"/>
              </a:avLst>
            </a:prstGeom>
            <a:solidFill>
              <a:schemeClr val="accent1"/>
            </a:solidFill>
            <a:ln cap="flat" cmpd="sng" w="25400">
              <a:solidFill>
                <a:srgbClr val="1C305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0"/>
            <p:cNvSpPr txBox="1"/>
            <p:nvPr/>
          </p:nvSpPr>
          <p:spPr>
            <a:xfrm>
              <a:off x="4164874" y="832835"/>
              <a:ext cx="1748245" cy="26161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CCTV / Camera stream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0"/>
            <p:cNvSpPr txBox="1"/>
            <p:nvPr/>
          </p:nvSpPr>
          <p:spPr>
            <a:xfrm>
              <a:off x="606928" y="1609560"/>
              <a:ext cx="1570597" cy="723275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Frame 수집 및 전처리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Frame sampling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ROI 설정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해상도/noise 보정</a:t>
              </a:r>
              <a:endParaRPr/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3226795" y="1598748"/>
              <a:ext cx="1346581" cy="723275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Vehicle Detection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Bbox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Class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Confidence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5464994" y="1675691"/>
              <a:ext cx="1593894" cy="5693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Multi-object Tracking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ID부여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Frame 간 association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7945479" y="1672343"/>
              <a:ext cx="1470451" cy="5693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대표점 추출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Bbox 하단 중심점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또는 3D box 기준점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6621622" y="2994359"/>
              <a:ext cx="1718645" cy="5693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위치 시계열 생성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Frame, x, y, id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Smoothing, interpolation</a:t>
              </a:r>
              <a:endParaRPr/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2880218" y="2908066"/>
              <a:ext cx="1252737" cy="72327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2893677" y="4609448"/>
              <a:ext cx="1346581" cy="877163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스케일 / 거리 변환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A-B 실제거리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Lane width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Vehicle size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Depth cue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5423012" y="4771214"/>
              <a:ext cx="1545889" cy="5693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속도 계산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Relative speed score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Approx km/h</a:t>
              </a:r>
              <a:endParaRPr/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7804727" y="5211136"/>
              <a:ext cx="1637328" cy="5693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의미 가공 / 이벤트 판단</a:t>
              </a:r>
              <a:endPara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방향, 가감속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Char char="•"/>
              </a:pPr>
              <a:r>
                <a:rPr b="0" i="0" lang="en-US" sz="1000" u="none" cap="none" strike="noStrike">
                  <a:solidFill>
                    <a:srgbClr val="D8D8D8"/>
                  </a:solidFill>
                  <a:latin typeface="Arial"/>
                  <a:ea typeface="Arial"/>
                  <a:cs typeface="Arial"/>
                  <a:sym typeface="Arial"/>
                </a:rPr>
                <a:t>과속/위험 판정</a:t>
              </a:r>
              <a:endParaRPr b="0" i="0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423719" y="4908890"/>
              <a:ext cx="1238403" cy="430887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Scene prior /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Calibration Info</a:t>
              </a:r>
              <a:endPara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384894" y="3192361"/>
              <a:ext cx="1346581" cy="26161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Track History DB</a:t>
              </a:r>
              <a:endPara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7853201" y="4313006"/>
              <a:ext cx="1466972" cy="26161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Speed / Event Log</a:t>
              </a:r>
              <a:endPara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512319" y="6241896"/>
              <a:ext cx="1173494" cy="26161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운영자 / 사용자</a:t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7778267" y="6264158"/>
              <a:ext cx="1565381" cy="26161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VLM / 상황 해석 모듈</a:t>
              </a:r>
              <a:endParaRPr/>
            </a:p>
          </p:txBody>
        </p:sp>
        <p:cxnSp>
          <p:nvCxnSpPr>
            <p:cNvPr id="181" name="Google Shape;181;p20"/>
            <p:cNvCxnSpPr>
              <a:stCxn id="164" idx="3"/>
              <a:endCxn id="163" idx="1"/>
            </p:cNvCxnSpPr>
            <p:nvPr/>
          </p:nvCxnSpPr>
          <p:spPr>
            <a:xfrm>
              <a:off x="2208443" y="1959528"/>
              <a:ext cx="947100" cy="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2" name="Google Shape;182;p20"/>
            <p:cNvCxnSpPr>
              <a:stCxn id="163" idx="3"/>
              <a:endCxn id="162" idx="1"/>
            </p:cNvCxnSpPr>
            <p:nvPr/>
          </p:nvCxnSpPr>
          <p:spPr>
            <a:xfrm flipH="1" rot="10800000">
              <a:off x="4573376" y="1955328"/>
              <a:ext cx="853200" cy="42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3" name="Google Shape;183;p20"/>
            <p:cNvCxnSpPr>
              <a:stCxn id="169" idx="3"/>
              <a:endCxn id="170" idx="1"/>
            </p:cNvCxnSpPr>
            <p:nvPr/>
          </p:nvCxnSpPr>
          <p:spPr>
            <a:xfrm flipH="1" rot="10800000">
              <a:off x="7058888" y="1957085"/>
              <a:ext cx="886500" cy="33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4" name="Google Shape;184;p20"/>
            <p:cNvCxnSpPr>
              <a:stCxn id="156" idx="4"/>
              <a:endCxn id="153" idx="1"/>
            </p:cNvCxnSpPr>
            <p:nvPr/>
          </p:nvCxnSpPr>
          <p:spPr>
            <a:xfrm>
              <a:off x="1737108" y="3278378"/>
              <a:ext cx="1113600" cy="51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5" name="Google Shape;185;p20"/>
            <p:cNvCxnSpPr>
              <a:stCxn id="157" idx="4"/>
              <a:endCxn id="159" idx="1"/>
            </p:cNvCxnSpPr>
            <p:nvPr/>
          </p:nvCxnSpPr>
          <p:spPr>
            <a:xfrm>
              <a:off x="1737108" y="5055907"/>
              <a:ext cx="1142100" cy="30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6" name="Google Shape;186;p20"/>
            <p:cNvCxnSpPr>
              <a:stCxn id="149" idx="2"/>
              <a:endCxn id="159" idx="1"/>
            </p:cNvCxnSpPr>
            <p:nvPr/>
          </p:nvCxnSpPr>
          <p:spPr>
            <a:xfrm flipH="1" rot="10800000">
              <a:off x="1732088" y="5059001"/>
              <a:ext cx="1147200" cy="13137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7" name="Google Shape;187;p20"/>
            <p:cNvCxnSpPr>
              <a:stCxn id="173" idx="3"/>
              <a:endCxn id="174" idx="1"/>
            </p:cNvCxnSpPr>
            <p:nvPr/>
          </p:nvCxnSpPr>
          <p:spPr>
            <a:xfrm>
              <a:off x="4240258" y="5048030"/>
              <a:ext cx="1182900" cy="78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8" name="Google Shape;188;p20"/>
            <p:cNvCxnSpPr>
              <a:stCxn id="150" idx="0"/>
              <a:endCxn id="155" idx="3"/>
            </p:cNvCxnSpPr>
            <p:nvPr/>
          </p:nvCxnSpPr>
          <p:spPr>
            <a:xfrm rot="-5400000">
              <a:off x="8350288" y="4930720"/>
              <a:ext cx="473400" cy="6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89" name="Google Shape;189;p20"/>
            <p:cNvCxnSpPr>
              <a:stCxn id="150" idx="2"/>
              <a:endCxn id="158" idx="1"/>
            </p:cNvCxnSpPr>
            <p:nvPr/>
          </p:nvCxnSpPr>
          <p:spPr>
            <a:xfrm flipH="1" rot="-5400000">
              <a:off x="8360488" y="6010394"/>
              <a:ext cx="457800" cy="5400"/>
            </a:xfrm>
            <a:prstGeom prst="curved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90" name="Google Shape;190;p20"/>
            <p:cNvCxnSpPr>
              <a:stCxn id="180" idx="2"/>
              <a:endCxn id="149" idx="4"/>
            </p:cNvCxnSpPr>
            <p:nvPr/>
          </p:nvCxnSpPr>
          <p:spPr>
            <a:xfrm rot="5400000">
              <a:off x="4828658" y="2794068"/>
              <a:ext cx="600" cy="7464000"/>
            </a:xfrm>
            <a:prstGeom prst="curvedConnector3">
              <a:avLst>
                <a:gd fmla="val -64618265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sp>
          <p:nvSpPr>
            <p:cNvPr id="191" name="Google Shape;191;p20"/>
            <p:cNvSpPr txBox="1"/>
            <p:nvPr/>
          </p:nvSpPr>
          <p:spPr>
            <a:xfrm>
              <a:off x="4278864" y="4103726"/>
              <a:ext cx="1265226" cy="21544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192" name="Google Shape;192;p20"/>
            <p:cNvSpPr txBox="1"/>
            <p:nvPr/>
          </p:nvSpPr>
          <p:spPr>
            <a:xfrm>
              <a:off x="1848563" y="5547930"/>
              <a:ext cx="824013" cy="461665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A-B 실제거리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관심 객체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임계속도</a:t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857921" y="4865484"/>
              <a:ext cx="671613" cy="338554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prior / calibration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4295972" y="6542967"/>
              <a:ext cx="1066021" cy="215444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alert / visual output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4243466" y="4883322"/>
              <a:ext cx="1098063" cy="338554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pixel-to-meter scale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 depth cue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7976982" y="5933371"/>
              <a:ext cx="1219410" cy="215444"/>
            </a:xfrm>
            <a:prstGeom prst="rect">
              <a:avLst/>
            </a:prstGeom>
            <a:solidFill>
              <a:schemeClr val="lt1">
                <a:alpha val="50196"/>
              </a:schemeClr>
            </a:solidFill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structured speed info</a:t>
              </a:r>
              <a:endPara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20"/>
            <p:cNvCxnSpPr>
              <a:stCxn id="165" idx="4"/>
              <a:endCxn id="164" idx="0"/>
            </p:cNvCxnSpPr>
            <p:nvPr/>
          </p:nvCxnSpPr>
          <p:spPr>
            <a:xfrm rot="5400000">
              <a:off x="2977745" y="-469162"/>
              <a:ext cx="447300" cy="3618600"/>
            </a:xfrm>
            <a:prstGeom prst="bentConnector3">
              <a:avLst>
                <a:gd fmla="val 27292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98" name="Google Shape;198;p20"/>
            <p:cNvCxnSpPr>
              <a:stCxn id="170" idx="2"/>
              <a:endCxn id="160" idx="0"/>
            </p:cNvCxnSpPr>
            <p:nvPr/>
          </p:nvCxnSpPr>
          <p:spPr>
            <a:xfrm rot="5400000">
              <a:off x="7713655" y="2009080"/>
              <a:ext cx="734400" cy="1199700"/>
            </a:xfrm>
            <a:prstGeom prst="bentConnector3">
              <a:avLst>
                <a:gd fmla="val 50000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199" name="Google Shape;199;p20"/>
            <p:cNvCxnSpPr>
              <a:stCxn id="171" idx="1"/>
              <a:endCxn id="156" idx="1"/>
            </p:cNvCxnSpPr>
            <p:nvPr/>
          </p:nvCxnSpPr>
          <p:spPr>
            <a:xfrm rot="10800000">
              <a:off x="1063822" y="2956853"/>
              <a:ext cx="5557800" cy="322200"/>
            </a:xfrm>
            <a:prstGeom prst="bentConnector4">
              <a:avLst>
                <a:gd fmla="val 4457" name="adj1"/>
                <a:gd fmla="val 199285" name="adj2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cxnSp>
          <p:nvCxnSpPr>
            <p:cNvPr id="200" name="Google Shape;200;p20"/>
            <p:cNvCxnSpPr>
              <a:stCxn id="154" idx="3"/>
              <a:endCxn id="150" idx="1"/>
            </p:cNvCxnSpPr>
            <p:nvPr/>
          </p:nvCxnSpPr>
          <p:spPr>
            <a:xfrm>
              <a:off x="6989905" y="5047198"/>
              <a:ext cx="741300" cy="428700"/>
            </a:xfrm>
            <a:prstGeom prst="bentConnector3">
              <a:avLst>
                <a:gd fmla="val 51175" name="adj1"/>
              </a:avLst>
            </a:prstGeom>
            <a:noFill/>
            <a:ln cap="flat" cmpd="sng" w="28575">
              <a:solidFill>
                <a:srgbClr val="3E6EC2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</p:cxnSp>
        <p:sp>
          <p:nvSpPr>
            <p:cNvPr id="201" name="Google Shape;201;p20"/>
            <p:cNvSpPr txBox="1"/>
            <p:nvPr/>
          </p:nvSpPr>
          <p:spPr>
            <a:xfrm>
              <a:off x="8362451" y="1357134"/>
              <a:ext cx="1171015" cy="246221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입력 및 인지</a:t>
              </a:r>
              <a:endParaRPr/>
            </a:p>
          </p:txBody>
        </p:sp>
        <p:sp>
          <p:nvSpPr>
            <p:cNvPr id="202" name="Google Shape;202;p20"/>
            <p:cNvSpPr txBox="1"/>
            <p:nvPr/>
          </p:nvSpPr>
          <p:spPr>
            <a:xfrm>
              <a:off x="6996997" y="3649128"/>
              <a:ext cx="1466972" cy="246221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위치 시계열 및 이동량</a:t>
              </a:r>
              <a:endParaRPr b="1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5446394" y="5501655"/>
              <a:ext cx="1670019" cy="246221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스케일 해석 및 속도 계산</a:t>
              </a: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7619451" y="4902010"/>
              <a:ext cx="1027500" cy="246221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algn="ctr" dir="5400000" dist="12700">
                <a:schemeClr val="dk1">
                  <a:alpha val="10196"/>
                </a:schemeClr>
              </a:outerShdw>
            </a:effectLst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후처리 및 출력</a:t>
              </a:r>
              <a:endParaRPr/>
            </a:p>
          </p:txBody>
        </p:sp>
      </p:grpSp>
      <p:sp>
        <p:nvSpPr>
          <p:cNvPr id="205" name="Google Shape;205;p20"/>
          <p:cNvSpPr/>
          <p:nvPr/>
        </p:nvSpPr>
        <p:spPr>
          <a:xfrm>
            <a:off x="4752873" y="2980080"/>
            <a:ext cx="1331303" cy="61357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ctr" dir="5400000" dist="12700">
              <a:schemeClr val="dk1">
                <a:alpha val="10196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84499" y="3064271"/>
            <a:ext cx="1293014" cy="415498"/>
          </a:xfrm>
          <a:prstGeom prst="rect">
            <a:avLst/>
          </a:prstGeom>
          <a:noFill/>
          <a:ln>
            <a:noFill/>
          </a:ln>
          <a:effectLst>
            <a:outerShdw blurRad="38100" rotWithShape="0" algn="ctr" dir="5400000" dist="12700">
              <a:schemeClr val="dk1">
                <a:alpha val="10196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도로 좌표계 추정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Calibration/IPM</a:t>
            </a:r>
            <a:endParaRPr/>
          </a:p>
        </p:txBody>
      </p:sp>
      <p:cxnSp>
        <p:nvCxnSpPr>
          <p:cNvPr id="207" name="Google Shape;207;p20"/>
          <p:cNvCxnSpPr>
            <a:stCxn id="205" idx="1"/>
            <a:endCxn id="153" idx="3"/>
          </p:cNvCxnSpPr>
          <p:nvPr/>
        </p:nvCxnSpPr>
        <p:spPr>
          <a:xfrm rot="10800000">
            <a:off x="4150473" y="3283570"/>
            <a:ext cx="602400" cy="3300"/>
          </a:xfrm>
          <a:prstGeom prst="curvedConnector3">
            <a:avLst>
              <a:gd fmla="val 50008" name="adj1"/>
            </a:avLst>
          </a:prstGeom>
          <a:noFill/>
          <a:ln cap="flat" cmpd="sng" w="2857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ctr" dir="5400000" dist="12700">
              <a:schemeClr val="dk1">
                <a:alpha val="10196"/>
              </a:schemeClr>
            </a:outerShdw>
          </a:effectLst>
        </p:spPr>
      </p:cxnSp>
      <p:cxnSp>
        <p:nvCxnSpPr>
          <p:cNvPr id="208" name="Google Shape;208;p20"/>
          <p:cNvCxnSpPr>
            <a:stCxn id="160" idx="1"/>
            <a:endCxn id="205" idx="3"/>
          </p:cNvCxnSpPr>
          <p:nvPr/>
        </p:nvCxnSpPr>
        <p:spPr>
          <a:xfrm flipH="1">
            <a:off x="6084322" y="3284236"/>
            <a:ext cx="537300" cy="2700"/>
          </a:xfrm>
          <a:prstGeom prst="curvedConnector3">
            <a:avLst>
              <a:gd fmla="val 50014" name="adj1"/>
            </a:avLst>
          </a:prstGeom>
          <a:noFill/>
          <a:ln cap="flat" cmpd="sng" w="28575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ctr" dir="5400000" dist="12700">
              <a:schemeClr val="dk1">
                <a:alpha val="10196"/>
              </a:schemeClr>
            </a:outerShdw>
          </a:effectLst>
        </p:spPr>
      </p:cxnSp>
      <p:cxnSp>
        <p:nvCxnSpPr>
          <p:cNvPr id="209" name="Google Shape;209;p20"/>
          <p:cNvCxnSpPr>
            <a:stCxn id="157" idx="0"/>
            <a:endCxn id="205" idx="2"/>
          </p:cNvCxnSpPr>
          <p:nvPr/>
        </p:nvCxnSpPr>
        <p:spPr>
          <a:xfrm rot="-5400000">
            <a:off x="2590518" y="2066971"/>
            <a:ext cx="1301400" cy="4354800"/>
          </a:xfrm>
          <a:prstGeom prst="bentConnector3">
            <a:avLst>
              <a:gd fmla="val 76828" name="adj1"/>
            </a:avLst>
          </a:prstGeom>
          <a:noFill/>
          <a:ln cap="flat" cmpd="sng" w="28575">
            <a:solidFill>
              <a:srgbClr val="8DA9DB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38100" rotWithShape="0" algn="ctr" dir="5400000" dist="12700">
              <a:schemeClr val="dk1">
                <a:alpha val="10196"/>
              </a:scheme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동향</a:t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저화질 CCTV에서도 검출 결과만으로 버티는 강건한 단안 속도 추정 </a:t>
            </a:r>
            <a:r>
              <a:rPr b="0" lang="en-US" sz="1600"/>
              <a:t>[1]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실제 CCTV 환경이 저해상도·저품질이라는 점에 주목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복잡한 수작업 대신 off-the-shelf 차량 검출 결과를 시간축으로 누적 활용하는 방향의 단안 속도 추정 파이프라인을 제시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속도 추정의 출발점을 차량 검출-시계열 추적-이동량 계산의 연쇄 구조로 바라봄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하단 기준점 추적과 DeepSORT로 구현성이 높은 실용형 속도 측정 </a:t>
            </a:r>
            <a:r>
              <a:rPr b="0" lang="en-US" sz="1600"/>
              <a:t>[2]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YOLOv7과 DeepSORT를 결합하여 차량을 연속 프레임에서 추적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바운딩박스의 대표점을 기준으로 위치 시계열을 구성한 뒤 속도를 산출하는 단안 카메라 기반 방법을 제안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복잡한 3D 복원보다 안정적인 검출·추적과 대표점 이동량 계산에 집중한 구조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3"/>
              <a:buChar char="•"/>
            </a:pPr>
            <a:r>
              <a:rPr lang="en-US"/>
              <a:t>경량 검출기와 양자화로 실시간성과 정확도를 함께 잡은 효율형 속도 추정 </a:t>
            </a:r>
            <a:r>
              <a:rPr b="0" lang="en-US" sz="1600"/>
              <a:t>[3]</a:t>
            </a:r>
            <a:endParaRPr b="0" sz="1600"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기존 속도 추정 구조를 유지하면서도 YOLOv6 기반 경량 검출기, 3D bounding box, 양자화를 결합하여 실시간성 개선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Edge device에서의 처리 속도와 배치 가능성을 함께 고려하여 실시간 운용 가능 시스템으로 확장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Object detection</a:t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217715" y="879231"/>
            <a:ext cx="9481762" cy="5383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21622"/>
              <a:buChar char="•"/>
            </a:pPr>
            <a:r>
              <a:rPr lang="en-US" sz="1600"/>
              <a:t>검출 모듈 구축 </a:t>
            </a:r>
            <a:r>
              <a:rPr b="0" lang="en-US" sz="1500"/>
              <a:t>[2], [3]</a:t>
            </a:r>
            <a:endParaRPr b="0" sz="1500"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frame-by-frame 처리 구조를 전제로, 각 프레임에서 객체를 안정적으로 검출하는 파이프라인 설계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차량, 버스, 트럭, 지게차 등 실제 현장 주요 객체를 우선 대상으로 검출 범위 정의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후속 tracking 및 속도 추정이 가능하도록 객체 class, bounding box, confidence를 구조화하여 저장</a:t>
            </a:r>
            <a:endParaRPr/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21622"/>
              <a:buChar char="•"/>
            </a:pPr>
            <a:r>
              <a:rPr lang="en-US" sz="1600"/>
              <a:t>검출 모델 선정 기준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상업적 사용이 가능한 라이선스 프리 오픈소스 모델을 우선 검토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EVA 운영 환경에 적용 가능한 detector 후보를 비교하여 정확도·추론 속도·배포 용이성 기준으로 선정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오픈 데이터셋 기반 사전학습 모델을 활용하되, 실제 CCTV 환경에서의 검출 안정성을 별도 점검</a:t>
            </a:r>
            <a:endParaRPr/>
          </a:p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21622"/>
              <a:buChar char="•"/>
            </a:pPr>
            <a:r>
              <a:rPr lang="en-US" sz="1600"/>
              <a:t>실험 및 적용 전제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속도 추정 연구를 위해 영상 단위 데이터 확보가 필요하며, 초기 실험은 POSTECH EVA 연계 CCTV를 활용한 파일럿 데이터를 우선 검토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데이터 수집 방식은 RTSP 스트리밍 저장 또는 일부 구간 mp4 파일 확보 방식으로 구성 가능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15315"/>
              <a:buChar char="◦"/>
            </a:pPr>
            <a:r>
              <a:rPr lang="en-US" sz="1500"/>
              <a:t>검출 결과는 후단 tracking 및 속도 추정 모듈과 연계할 수 있도록 표준화된 출력 포맷으로 관리</a:t>
            </a:r>
            <a:endParaRPr/>
          </a:p>
          <a:p>
            <a:pPr indent="-2286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Object detection</a:t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217715" y="879231"/>
            <a:ext cx="9481762" cy="582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/>
          </a:bodyPr>
          <a:lstStyle/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ct val="114467"/>
              <a:buChar char="•"/>
            </a:pPr>
            <a:r>
              <a:rPr lang="en-US" sz="1700"/>
              <a:t>후보 기술: RT-DETR </a:t>
            </a:r>
            <a:r>
              <a:rPr b="0" lang="en-US" sz="1500"/>
              <a:t>[9]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◦"/>
            </a:pPr>
            <a:r>
              <a:rPr b="1" lang="en-US"/>
              <a:t>개요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기존 Transformer 모델의 연산 한계를 극복하고 실시간 탐지 성능 구현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중복 예측 박스를 제거하는 번거로운 후처리 공정(NMS)을 생략하여 추론 지연 및 성능 불안정성 원천 해결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동일 성능 구간에서 YOLO 대비 더 빠른 속도와 높은 정확도를 동시에 입증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◦"/>
            </a:pPr>
            <a:r>
              <a:rPr b="1" lang="en-US"/>
              <a:t>핵심 원리</a:t>
            </a:r>
            <a:endParaRPr b="1"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Hybrid Encoder : 중요 정보는 정밀하게, 배경 정보는 빠르게 처리하는 로 연산 병목 해결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Uncertainty-minimal Query Selection: 물체의 종류(What)와 위치(Where)를 가장 확실하게 파악한 최정예 후보(Query)만 선별하여 탐지 정확도 제고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◦"/>
            </a:pPr>
            <a:r>
              <a:rPr b="1" lang="en-US"/>
              <a:t>실서비스 적용성</a:t>
            </a:r>
            <a:endParaRPr b="1"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화면 내 물체 개수에 상관없이 일정한 추론 속도 유지 (NVIDIA T4 기준 약 9.3ms, 108 FPS)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서비스 요구사항에 맞춰 모델 재학습 없이 ‘속도 우선’ 또는 ‘정확도 우선’ 모드로 즉시 전환 가능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⎻"/>
            </a:pPr>
            <a:r>
              <a:rPr lang="en-US"/>
              <a:t>범용적인 (640x640) 입력 해상도 지원 및 합리적인 VRAM 점유로 실제 서비스 환경(FP16)에 즉시 배포 가능</a:t>
            </a:r>
            <a:endParaRPr/>
          </a:p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Object tracking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217715" y="879231"/>
            <a:ext cx="9481762" cy="582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ct val="132353"/>
              <a:buChar char="•"/>
            </a:pPr>
            <a:r>
              <a:rPr lang="en-US"/>
              <a:t>추적 모듈 구축 </a:t>
            </a:r>
            <a:r>
              <a:rPr b="0" lang="en-US" sz="1600"/>
              <a:t>[2], [4]</a:t>
            </a:r>
            <a:endParaRPr b="0" sz="1600"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객체 검출 결과를 기반으로 동일 객체의 고유 ID를 유지하는 tracking 파이프라인 설계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DeepSORT 또는 ByteTrack 계열 추적 알고리즘을 활용하여 프레임 간 객체 연속성 확보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저 FPS 환경에서도 동일 객체를 안정적으로 이어 붙일 수 있도록 추적기 후보 비교 및 선정</a:t>
            </a:r>
            <a:endParaRPr/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추적 안정화 기법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Kalman filter 적용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⎻"/>
            </a:pPr>
            <a:r>
              <a:rPr lang="en-US"/>
              <a:t>물체의 다음 위치를 예측하고 관측값과 결합하여 더 안정적인 위치 추정 수행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Exponential Moving Average(EMA) 기반 feature 업데이트</a:t>
            </a:r>
            <a:endParaRPr/>
          </a:p>
          <a:p>
            <a:pPr indent="-317500" lvl="2" marL="13716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⎻"/>
            </a:pPr>
            <a:r>
              <a:rPr lang="en-US"/>
              <a:t>프레임별 detection noise, 부분 가림, 박스 흔들림 상황에서 appearance feature를 안정적으로 유지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누락 프레임이나 가려진 구간은 보간(interpolation) 또는 최근 위치 유지 방식으로 연속성 확보</a:t>
            </a:r>
            <a:endParaRPr/>
          </a:p>
          <a:p>
            <a:pPr indent="-3429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ct val="117647"/>
              <a:buChar char="•"/>
            </a:pPr>
            <a:r>
              <a:rPr lang="en-US"/>
              <a:t>실험 관점의 고려 사항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저 FPS 환경에서 발생할 수 있는 ID switching, detection 누락, 위치 시계열 단절 문제를 중점적으로 분석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EVA 내 object tracking 기능은 현재 로드맵 단계이므로, 초기 연구에서는 별도 tracking 모듈 기반 PoC를 수행하고 향후 연계 가능성을 검토</a:t>
            </a:r>
            <a:endParaRPr/>
          </a:p>
          <a:p>
            <a:pPr indent="-330200" lvl="1" marL="9144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ct val="117647"/>
              <a:buChar char="◦"/>
            </a:pPr>
            <a:r>
              <a:rPr lang="en-US"/>
              <a:t>추적 결과는 후속 픽셀 이동량 계산 및 속도 추정의 입력으로 활용</a:t>
            </a:r>
            <a:endParaRPr/>
          </a:p>
        </p:txBody>
      </p:sp>
      <p:sp>
        <p:nvSpPr>
          <p:cNvPr id="238" name="Google Shape;238;p24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Object tracking</a:t>
            </a:r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217715" y="879231"/>
            <a:ext cx="9481762" cy="5421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111455"/>
              <a:buChar char="•"/>
            </a:pPr>
            <a:r>
              <a:rPr lang="en-US" sz="1900"/>
              <a:t>후보 기술: ByteTrack </a:t>
            </a:r>
            <a:r>
              <a:rPr b="0" lang="en-US" sz="1600"/>
              <a:t>[10]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4575"/>
              <a:buChar char="◦"/>
            </a:pPr>
            <a:r>
              <a:rPr b="1" lang="en-US" sz="1800"/>
              <a:t>개요</a:t>
            </a:r>
            <a:endParaRPr b="1" sz="18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기존 MOT 방식이 폐기하던 저신뢰도(Low-score)탐지 박스를 추적에 재활용하여 데이터 손실 최소화</a:t>
            </a:r>
            <a:endParaRPr sz="15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MOT17, MOT20 등 글로벌 벤치마크 1위 달성 및 ID 스위칭 현상의 혁신적 감소</a:t>
            </a:r>
            <a:endParaRPr sz="15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특정 모델에 종속되지 않고 Faster R-CNN, RT-DETR 등 다양한 최신 Detection 모델과 즉시 결합 가능 (논문에서는 YoloX 채택)</a:t>
            </a:r>
            <a:endParaRPr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4575"/>
              <a:buChar char="◦"/>
            </a:pPr>
            <a:r>
              <a:rPr b="1" lang="en-US" sz="1800"/>
              <a:t>핵심 원리 (BYTE)</a:t>
            </a:r>
            <a:endParaRPr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Step 1: 고신뢰도 객체 매칭 (High-score Matching)</a:t>
            </a:r>
            <a:endParaRPr/>
          </a:p>
          <a:p>
            <a:pPr indent="-304800" lvl="3" marL="18288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94118"/>
              <a:buChar char="✓"/>
            </a:pPr>
            <a:r>
              <a:rPr lang="en-US" sz="1500"/>
              <a:t>확실하게 탐지된 객체를 기존 경로(Tracklets)와 우선 연결하여 안정적 추적 수행</a:t>
            </a:r>
            <a:endParaRPr sz="15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Step 2: 저신뢰도 객체 복구 (Low-score Recovery)</a:t>
            </a:r>
            <a:endParaRPr/>
          </a:p>
          <a:p>
            <a:pPr indent="-304800" lvl="3" marL="18288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94118"/>
              <a:buChar char="✓"/>
            </a:pPr>
            <a:r>
              <a:rPr lang="en-US" sz="1500"/>
              <a:t>1단계에서 매칭되지 않은 경로를 대상으로, 가려짐(Occlusion)이나 블러(Blur)로 인해 점수가 낮아진 탐지 박스와 2차 매칭</a:t>
            </a:r>
            <a:endParaRPr sz="1500"/>
          </a:p>
          <a:p>
            <a:pPr indent="-304800" lvl="3" marL="18288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94118"/>
              <a:buChar char="✓"/>
            </a:pPr>
            <a:r>
              <a:rPr lang="en-US" sz="1500"/>
              <a:t>Kalman Filter 기반의 위치 예측값과 IoU 유사도를 결합하여 일시적으로 사라진 객체 식별 및 복구</a:t>
            </a:r>
            <a:endParaRPr sz="15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ct val="109804"/>
              <a:buChar char="⎻"/>
            </a:pPr>
            <a:r>
              <a:rPr lang="en-US" sz="1500"/>
              <a:t>노이즈 필터링: 경로와 연결되지 않는 낮은 점수 박스는 배경 노이즈로 간주하여 오탐지 방지 </a:t>
            </a:r>
            <a:endParaRPr/>
          </a:p>
        </p:txBody>
      </p:sp>
      <p:sp>
        <p:nvSpPr>
          <p:cNvPr id="245" name="Google Shape;245;p25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Object tracking</a:t>
            </a:r>
            <a:endParaRPr/>
          </a:p>
        </p:txBody>
      </p: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217715" y="879232"/>
            <a:ext cx="9481762" cy="5245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후보 기술: ByteTrack</a:t>
            </a:r>
            <a:endParaRPr sz="1600"/>
          </a:p>
          <a:p>
            <a:pPr indent="-330200" lvl="1" marL="9144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 sz="1500"/>
              <a:t>실서비스 적용성 </a:t>
            </a:r>
            <a:endParaRPr b="1" sz="15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 sz="1300"/>
              <a:t>인파가 밀집되거나 장애물이 많은 환경(CCTV, 스마트 시티)에서도 끊김 없는 개체 추적 보장</a:t>
            </a:r>
            <a:endParaRPr sz="13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 sz="1300"/>
              <a:t>복잡한 Re-ID 연산을 지양하고 효율적인 모션 예측 기반으로 설계되어 30 FPS 이상의 실시간성 확보</a:t>
            </a:r>
            <a:endParaRPr sz="13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 sz="1300"/>
              <a:t>Edge 컴퓨팅을 위한 초경량 모델부터 고성능 서버형 모델까지 폭넓은 확장성 제공</a:t>
            </a:r>
            <a:endParaRPr sz="1300"/>
          </a:p>
          <a:p>
            <a:pPr indent="-317500" lvl="2" marL="1371600" rtl="0" algn="l">
              <a:lnSpc>
                <a:spcPct val="17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 sz="1300"/>
              <a:t>기존 시스템의 Detector만 교체해도 추적 성능 동반 상승</a:t>
            </a:r>
            <a:endParaRPr/>
          </a:p>
        </p:txBody>
      </p:sp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Image calibration</a:t>
            </a:r>
            <a:endParaRPr/>
          </a:p>
        </p:txBody>
      </p:sp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Camera Calibration 모듈 구축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카메라의 내부·외부 기하적인 정보를 추정하여 이미지 좌표를 도로 평면 좌표로 변환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Steps</a:t>
            </a:r>
            <a:r>
              <a:rPr lang="en-US"/>
              <a:t>[5], [6], [7]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차량의 이동 방향을 Cascaded Hough Transform을 통해 도로의 이동 방향과 수평인 벡터와 수직인 벡터를 추출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도로의 이동 방향과 수직인 벡터와 수평인 벡터를 통해 도로의 법선 벡터와 카메라의 초점 거리를 추론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추론된 벡터들과 초점거리를 이용해 원근 왜곡 보정이 된 도로 평면 위의 object 위치를 파악 가능 </a:t>
            </a:r>
            <a:endParaRPr/>
          </a:p>
        </p:txBody>
      </p:sp>
      <p:sp>
        <p:nvSpPr>
          <p:cNvPr id="260" name="Google Shape;260;p27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427" y="4359765"/>
            <a:ext cx="3035022" cy="1719618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3381" y="4359765"/>
            <a:ext cx="2970075" cy="1719618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27"/>
          <p:cNvSpPr/>
          <p:nvPr/>
        </p:nvSpPr>
        <p:spPr>
          <a:xfrm>
            <a:off x="2102830" y="6162092"/>
            <a:ext cx="9316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왜곡 보정 전 </a:t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6782939" y="6159134"/>
            <a:ext cx="9316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왜곡 보정 후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Scale estimation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거리 추정 모듈 구축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3D bounding box 모듈</a:t>
            </a:r>
            <a:r>
              <a:rPr lang="en-US"/>
              <a:t>[6], [7]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차종 별 대표적인 3D 모델 준비.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Image calibration module을 통해 구한 초점 거리 및 도로 벡터를 바탕으로 3D 모델을 2D 이미지에 다양한 스케일로 투영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2D bounding box와 가장 IoU가 높은 3D 모델을 선택하여 scale factor 추정에 활용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Scale estimate 모듈</a:t>
            </a:r>
            <a:endParaRPr b="1"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3D model의 실제 차량 정보 size와 픽셀 수를 바탕으로 픽셀 당 실제 거리를 추정.</a:t>
            </a:r>
            <a:endParaRPr/>
          </a:p>
        </p:txBody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4119427" y="6227813"/>
            <a:ext cx="18069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 랜더링 이미지 투영 예시</a:t>
            </a:r>
            <a:endParaRPr/>
          </a:p>
        </p:txBody>
      </p:sp>
      <p:pic>
        <p:nvPicPr>
          <p:cNvPr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350" y="3962190"/>
            <a:ext cx="5970148" cy="2142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Scale estimation</a:t>
            </a:r>
            <a:endParaRPr/>
          </a:p>
        </p:txBody>
      </p:sp>
      <p:sp>
        <p:nvSpPr>
          <p:cNvPr id="279" name="Google Shape;279;p29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후보 기술: Edgelets </a:t>
            </a:r>
            <a:r>
              <a:rPr b="0" lang="en-US" sz="1400"/>
              <a:t>[6]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개요</a:t>
            </a:r>
            <a:endParaRPr b="1"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Calibration 결과로  image 좌표를 투영해 얻은 road-plane 좌표를 실제 거리(m) 로 변환하기 위한 scale을 추정하는 모듈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차량의 3D 형상 정보(차종별 실제 크기)를 활용하여 영상 내 객체의 실제 크기와 픽셀 크기 간의 대응 관계를 학습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학습 없이 calibration 결과를 기반으로 3D 객체 정보를 활용한 모듈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핵심 원리</a:t>
            </a:r>
            <a:endParaRPr b="1"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Step 1: 3D 모델 기반 Bounding Box 정렬</a:t>
            </a:r>
            <a:endParaRPr/>
          </a:p>
          <a:p>
            <a:pPr indent="-3048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Char char="✓"/>
            </a:pPr>
            <a:r>
              <a:rPr lang="en-US"/>
              <a:t>차량 class별 3D CAD model 준비</a:t>
            </a:r>
            <a:endParaRPr/>
          </a:p>
          <a:p>
            <a:pPr indent="-3048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Char char="✓"/>
            </a:pPr>
            <a:r>
              <a:rPr lang="en-US"/>
              <a:t>calibration 결과를 기반으로 다양한 scale로 3D 모델을 2D 이미지에 투영</a:t>
            </a:r>
            <a:endParaRPr/>
          </a:p>
          <a:p>
            <a:pPr indent="-3048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Char char="✓"/>
            </a:pPr>
            <a:r>
              <a:rPr lang="en-US"/>
              <a:t>detection box와 IoU 최대가 되는 3D box 선택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Step 2: Pixel-to-Meter Scale 추정</a:t>
            </a:r>
            <a:endParaRPr/>
          </a:p>
          <a:p>
            <a:pPr indent="-3048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Char char="✓"/>
            </a:pPr>
            <a:r>
              <a:rPr lang="en-US"/>
              <a:t>선택된 3D box의 실제 크기와 픽셀 크기 비교</a:t>
            </a:r>
            <a:endParaRPr/>
          </a:p>
          <a:p>
            <a:pPr indent="-3048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200"/>
              <a:buChar char="✓"/>
            </a:pPr>
            <a:r>
              <a:rPr lang="en-US"/>
              <a:t>road-plane 좌표계 상 거리값을 실제 거리로 변환하기 위한 scale factor (λ) 계산</a:t>
            </a:r>
            <a:endParaRPr/>
          </a:p>
        </p:txBody>
      </p:sp>
      <p:sp>
        <p:nvSpPr>
          <p:cNvPr id="280" name="Google Shape;280;p29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Scale estimation</a:t>
            </a:r>
            <a:endParaRPr/>
          </a:p>
        </p:txBody>
      </p:sp>
      <p:sp>
        <p:nvSpPr>
          <p:cNvPr id="286" name="Google Shape;286;p30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후보 기술: Edgelets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핵심 특징</a:t>
            </a:r>
            <a:endParaRPr b="1"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Scale estimation은 초기 단계에서 1회 수행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이후 속도 추론 시 계산 된 scale을 기반으로 2D bounding box + tracking 결과만으로 속도 계산 가능</a:t>
            </a:r>
            <a:endParaRPr/>
          </a:p>
          <a:p>
            <a:pPr indent="-330200" lvl="1" marL="9144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실서비스 적용성</a:t>
            </a:r>
            <a:endParaRPr b="1"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초기 scale 계산 이후 추론 비용 증가 없음 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실시간 시스템에서 큰 latency 없이 speed estimation 가능</a:t>
            </a:r>
            <a:endParaRPr/>
          </a:p>
          <a:p>
            <a: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카메라 고정 시 모델 교체 시에도 scale 재사용 가능</a:t>
            </a:r>
            <a:endParaRPr/>
          </a:p>
        </p:txBody>
      </p:sp>
      <p:sp>
        <p:nvSpPr>
          <p:cNvPr id="287" name="Google Shape;287;p30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Speed estimation</a:t>
            </a:r>
            <a:endParaRPr/>
          </a:p>
        </p:txBody>
      </p:sp>
      <p:sp>
        <p:nvSpPr>
          <p:cNvPr id="293" name="Google Shape;293;p31"/>
          <p:cNvSpPr txBox="1"/>
          <p:nvPr>
            <p:ph idx="1" type="body"/>
          </p:nvPr>
        </p:nvSpPr>
        <p:spPr>
          <a:xfrm>
            <a:off x="217715" y="879231"/>
            <a:ext cx="9481762" cy="558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시계열 위치 추정 및 도로 좌표계 상 이동량 계산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위치 시계열 생성 </a:t>
            </a:r>
            <a:r>
              <a:rPr lang="en-US" sz="1500"/>
              <a:t>[1], [4]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각 차량 ID에 대해 프레임 번호와 대표점의 픽셀 좌표 (x, y) 시계열로 저장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누락되는 프레임이나 가려진 구간은 보간(interpolation) 또는 최근 위치 유지(lasting) 방식으로 채워 연속성을 확보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도로 좌표계 이동량 계산 </a:t>
            </a:r>
            <a:r>
              <a:rPr lang="en-US" sz="1500"/>
              <a:t>[2], [8]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Calibration 정보를 바탕으로 image 상 좌표를 도로 좌표 상 좌표로 변경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인접 프레임 또는 일정 시간 간격으로 좌표 차이 계산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저FPS 영상에서는 프레임 간격을 늘리거나 이동 평균을 사용하여 안정적으로 이동량 추정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Speed estimation</a:t>
            </a:r>
            <a:endParaRPr/>
          </a:p>
        </p:txBody>
      </p:sp>
      <p:sp>
        <p:nvSpPr>
          <p:cNvPr id="300" name="Google Shape;300;p32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속도 추정 로직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 속도 계산 (도로 좌표계 기준)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이동량 계산 단계에서 구한 Euclidean 거리를 시간 간격 (FPS 역수)로 나눠 도로 좌표계 상 속도 계산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출력 설계 </a:t>
            </a:r>
            <a:r>
              <a:rPr lang="en-US" sz="1500"/>
              <a:t>[1], [4]</a:t>
            </a:r>
            <a:endParaRPr sz="1500"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스케일 추정 모듈을 통해 도로 좌표계 상 속도를 실제 속도로 변환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절대 속도(km/h)를 바로 제시하기보다 relative speed score나 pixel/frame 속도(signal)를 제공</a:t>
            </a:r>
            <a:endParaRPr/>
          </a:p>
        </p:txBody>
      </p:sp>
      <p:sp>
        <p:nvSpPr>
          <p:cNvPr id="301" name="Google Shape;301;p32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Speed evaluation</a:t>
            </a:r>
            <a:endParaRPr/>
          </a:p>
        </p:txBody>
      </p:sp>
      <p:sp>
        <p:nvSpPr>
          <p:cNvPr id="308" name="Google Shape;308;p33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속도 추정 결과 검증 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lang="en-US"/>
              <a:t>scene scale estimation을 적용했을 때 실제 속도 추정 정확도를 검증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평가 지표</a:t>
            </a:r>
            <a:endParaRPr b="1"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scale 추정 오차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속도 추정 MAE / RMSE / MAPE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카메라 시점별 성능 비교</a:t>
            </a:r>
            <a:endParaRPr b="1"/>
          </a:p>
          <a:p>
            <a:pPr indent="-3302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Char char="◦"/>
            </a:pPr>
            <a:r>
              <a:rPr b="1" lang="en-US"/>
              <a:t>데이터셋: BrnoCompSpeed Dataset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체코의 교통 영상 정보 데이터셋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실제 거리를 나타내는 마커 존재 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실제 레이더를 이용한 속도 추정값 존재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3 방향의 카메라를 통한 데이터 수집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Char char="⎻"/>
            </a:pPr>
            <a:r>
              <a:rPr lang="en-US"/>
              <a:t>1 hour 데이터 수집 </a:t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09" name="Google Shape;309;p33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0" name="Google Shape;3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1770" y="1911749"/>
            <a:ext cx="2882388" cy="1684329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1" name="Google Shape;311;p33"/>
          <p:cNvSpPr/>
          <p:nvPr/>
        </p:nvSpPr>
        <p:spPr>
          <a:xfrm>
            <a:off x="6818284" y="3596078"/>
            <a:ext cx="14093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데이터셋 카메라 세팅</a:t>
            </a:r>
            <a:endParaRPr/>
          </a:p>
        </p:txBody>
      </p:sp>
      <p:pic>
        <p:nvPicPr>
          <p:cNvPr id="312" name="Google Shape;31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1770" y="3909910"/>
            <a:ext cx="2882388" cy="1754806"/>
          </a:xfrm>
          <a:prstGeom prst="rect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3" name="Google Shape;313;p33"/>
          <p:cNvSpPr/>
          <p:nvPr/>
        </p:nvSpPr>
        <p:spPr>
          <a:xfrm>
            <a:off x="6893611" y="5700871"/>
            <a:ext cx="133403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데이터셋 영상 예시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연구 세부 내용 – Reference </a:t>
            </a:r>
            <a:endParaRPr/>
          </a:p>
        </p:txBody>
      </p:sp>
      <p:sp>
        <p:nvSpPr>
          <p:cNvPr id="320" name="Google Shape;320;p34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217715" y="879231"/>
            <a:ext cx="9481762" cy="2428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Robust automatic monocular vehicle speed estimation for traffic surveillance (ICCV 2021)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Vehicle speed measurement method using monocular cameras (Nature 2025)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vision-based vehicle speed estimation (JRTIP 2025)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semi-automatic 2D solution for vehicle speed estimation from monocular videos (CVPR 2018)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cascaded Hough transform(IEEE 1997)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Traffic Surveillance Camera Calibration by 3D Model Bounding Box Alignment for Accurate Vehicle Speed Measurement(CVIU 2021)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vision‑based vehicle speed estimation(JRTIP 2025)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Traffic flow from a low frame rate city camera (ICIP 2015)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Detrs beat yolos on real-time object detection (CVPR 2024)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</a:t>
            </a:r>
            <a:r>
              <a:rPr b="0" lang="en-US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Bytetrack: Multi-object tracking by associating every detection box (ECCV 2022)</a:t>
            </a:r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0"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  <a:hlinkClick r:id="rId1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87682" y="4108537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4"/>
          <p:cNvSpPr txBox="1"/>
          <p:nvPr/>
        </p:nvSpPr>
        <p:spPr>
          <a:xfrm>
            <a:off x="-1503123" y="3093929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일정 계획</a:t>
            </a:r>
            <a:endParaRPr/>
          </a:p>
        </p:txBody>
      </p:sp>
      <p:sp>
        <p:nvSpPr>
          <p:cNvPr id="329" name="Google Shape;329;p35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30" name="Google Shape;330;p35"/>
          <p:cNvGraphicFramePr/>
          <p:nvPr/>
        </p:nvGraphicFramePr>
        <p:xfrm>
          <a:off x="376245" y="1184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{570301A6-D544-4107-A365-321783EAC5CD}</a:tableStyleId>
              </a:tblPr>
              <a:tblGrid>
                <a:gridCol w="2256900"/>
                <a:gridCol w="3393500"/>
                <a:gridCol w="583850"/>
                <a:gridCol w="583850"/>
                <a:gridCol w="583850"/>
                <a:gridCol w="583850"/>
                <a:gridCol w="583850"/>
                <a:gridCol w="583850"/>
              </a:tblGrid>
              <a:tr h="238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solidFill>
                      <a:srgbClr val="BFBFB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8월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384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착수 및 요구사항 정리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요구사항 구체화 / 시스템 인터페이스 정의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CCTV 샘플 영상 확보 / 시험 환경 구성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8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파일럿 파이프라인 구축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검출기/추적기 베이스라인 선정 및 동작 확인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대표점 추출 / 위치 시계열 / 픽셀 속도 계산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속도 추정 모듈 API화 / 로그 저장 구조 설계 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0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시스템 연동 및 1차 실증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기존 CCTV 감시 시스템과 연동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실시간/준실시간 시험 운영 및 결과 확인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1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오류 유형 정리 (ID switch, 누락, 속도 튐 등)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성능 개선 및 운영 고도화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저FPS/가림/야간 대응 튜닝 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속도 안정화 로직 보강 (평균화, 임계값)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경량화/처리속도 개선 / 운영 파라미터 정리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알림 로직 / 대시보드 출력 / 운영 UI 반영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9000"/>
                    </a:solidFill>
                  </a:tcPr>
                </a:tc>
              </a:tr>
              <a:tr h="237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파일럿 재실증 및 피드백 반영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9000"/>
                    </a:solidFill>
                  </a:tcPr>
                </a:tc>
              </a:tr>
              <a:tr h="2310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안정화 및 마무리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최종 성능 검증 / 운영 가이드 / 문서화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231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최종 시연 및 결과 보고 </a:t>
                      </a:r>
                      <a:endParaRPr/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4950" marB="54950" marR="109900" marL="1099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type="title"/>
          </p:nvPr>
        </p:nvSpPr>
        <p:spPr>
          <a:xfrm>
            <a:off x="217715" y="149873"/>
            <a:ext cx="9481762" cy="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None/>
            </a:pPr>
            <a:r>
              <a:rPr lang="en-US"/>
              <a:t>추가 참고 문헌</a:t>
            </a:r>
            <a:endParaRPr/>
          </a:p>
        </p:txBody>
      </p:sp>
      <p:sp>
        <p:nvSpPr>
          <p:cNvPr id="336" name="Google Shape;336;p36"/>
          <p:cNvSpPr txBox="1"/>
          <p:nvPr>
            <p:ph idx="1" type="body"/>
          </p:nvPr>
        </p:nvSpPr>
        <p:spPr>
          <a:xfrm>
            <a:off x="217715" y="879231"/>
            <a:ext cx="9481762" cy="54716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Detection of 3D bounding boxes of vehicles using perspective transformation for accurate speed measurement (MVAA 2020)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Comprehensive data set for automatic single camera visual speed measurement (ITS 2018)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Real-time vehicle distance estimation using single view geometry (WACV 2020)</a:t>
            </a:r>
            <a:endParaRPr b="0" sz="14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Depth pro: Sharp monocular metric depth in less than a second (arXiv:2410.02073, 2025)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Metric3d: Towards zero-shot metric 3d prediction from a single image (ICCV 2023)</a:t>
            </a:r>
            <a:endParaRPr b="0" sz="14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Depth any camera: Zero-shot metric depth estimation from any camera (CVPR 2025)</a:t>
            </a:r>
            <a:r>
              <a:rPr b="0" lang="en-US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depth anything: Consistent depth estimation for super-long videos (CVPR 2025)</a:t>
            </a:r>
            <a:r>
              <a:rPr b="0" lang="en-US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Unidepth: Universal monocular metric depth estimation (CVPR 2024)</a:t>
            </a:r>
            <a:r>
              <a:rPr b="0" lang="en-US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Unidepthv2: Universal monocular metric depth estimation made simpler (PAMI 2025)</a:t>
            </a:r>
            <a:endParaRPr b="0" sz="14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Toward planet-wide traffic camera calibration (WACV 2024)</a:t>
            </a:r>
            <a:endParaRPr b="0" sz="14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TrafficLoc: localizing traffic surveillance cameras in 3D scenes (ICCV 2025)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0"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</a:t>
            </a:r>
            <a:r>
              <a:rPr b="0" lang="en-US" sz="1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Vision-based Vehicle Speed Estimation: A Survey (arXiv:2101.06159, 2021)</a:t>
            </a:r>
            <a:endParaRPr b="0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  <p:sp>
        <p:nvSpPr>
          <p:cNvPr id="337" name="Google Shape;337;p36"/>
          <p:cNvSpPr txBox="1"/>
          <p:nvPr>
            <p:ph idx="12" type="sldNum"/>
          </p:nvPr>
        </p:nvSpPr>
        <p:spPr>
          <a:xfrm>
            <a:off x="8633456" y="6459787"/>
            <a:ext cx="10660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추억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2016-06-08T13:50:06Z</dcterms:created>
  <dc:creator>Microsoft</dc:creator>
</cp:coreProperties>
</file>