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90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g7y5rb4tVa3ZmwDBf00bqYyREw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2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 txBox="1"/>
          <p:nvPr>
            <p:ph type="ctrTitle"/>
          </p:nvPr>
        </p:nvSpPr>
        <p:spPr>
          <a:xfrm>
            <a:off x="555477" y="758952"/>
            <a:ext cx="8844576" cy="23175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Malgun Gothic"/>
              <a:buNone/>
              <a:defRPr sz="4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" type="subTitle"/>
          </p:nvPr>
        </p:nvSpPr>
        <p:spPr>
          <a:xfrm>
            <a:off x="555477" y="3825963"/>
            <a:ext cx="884457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9"/>
          <p:cNvSpPr txBox="1"/>
          <p:nvPr>
            <p:ph idx="10" type="dt"/>
          </p:nvPr>
        </p:nvSpPr>
        <p:spPr>
          <a:xfrm>
            <a:off x="891542" y="6459787"/>
            <a:ext cx="200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1" type="ftr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2" type="sldNum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" name="Google Shape;22;p9"/>
          <p:cNvCxnSpPr/>
          <p:nvPr/>
        </p:nvCxnSpPr>
        <p:spPr>
          <a:xfrm>
            <a:off x="555477" y="3478138"/>
            <a:ext cx="8844576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제목 및 내용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Char char="⎻"/>
              <a:defRPr sz="1400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Arial"/>
              <a:buChar char="✓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indent="-280988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825"/>
              <a:buFont typeface="Arial"/>
              <a:buChar char="◼"/>
              <a:defRPr sz="1100">
                <a:latin typeface="Arial"/>
                <a:ea typeface="Arial"/>
                <a:cs typeface="Arial"/>
                <a:sym typeface="Arial"/>
              </a:defRPr>
            </a:lvl5pPr>
            <a:lvl6pPr indent="-295275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50"/>
              <a:buFont typeface="Helvetica Neue"/>
              <a:buChar char="‣"/>
              <a:defRPr sz="1050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91542" y="6459787"/>
            <a:ext cx="200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showMasterSp="0">
  <p:cSld name="구역 머리글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91540" y="758952"/>
            <a:ext cx="8172450" cy="2563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Malgun Gothic"/>
              <a:buNone/>
              <a:defRPr b="1" sz="36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0" type="dt"/>
          </p:nvPr>
        </p:nvSpPr>
        <p:spPr>
          <a:xfrm>
            <a:off x="891542" y="6459787"/>
            <a:ext cx="200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1" type="ftr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4" name="Google Shape;34;p11"/>
          <p:cNvCxnSpPr/>
          <p:nvPr/>
        </p:nvCxnSpPr>
        <p:spPr>
          <a:xfrm>
            <a:off x="981223" y="3429000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891540" y="3535685"/>
            <a:ext cx="8172449" cy="2248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>
  <p:cSld name="콘텐츠 2개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idx="1" type="body"/>
          </p:nvPr>
        </p:nvSpPr>
        <p:spPr>
          <a:xfrm>
            <a:off x="217715" y="832338"/>
            <a:ext cx="4685755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2" type="body"/>
          </p:nvPr>
        </p:nvSpPr>
        <p:spPr>
          <a:xfrm>
            <a:off x="5052059" y="832338"/>
            <a:ext cx="4647417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0" type="dt"/>
          </p:nvPr>
        </p:nvSpPr>
        <p:spPr>
          <a:xfrm>
            <a:off x="891542" y="6459787"/>
            <a:ext cx="200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1" type="ftr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2" type="sldNum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2"/>
          <p:cNvSpPr txBox="1"/>
          <p:nvPr/>
        </p:nvSpPr>
        <p:spPr>
          <a:xfrm>
            <a:off x="217715" y="149874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마스터 제목 스타일 편집</a:t>
            </a:r>
            <a:endParaRPr b="1" i="0" sz="2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>
  <p:cSld name="비교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 txBox="1"/>
          <p:nvPr>
            <p:ph idx="1" type="body"/>
          </p:nvPr>
        </p:nvSpPr>
        <p:spPr>
          <a:xfrm>
            <a:off x="217715" y="802703"/>
            <a:ext cx="4685755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2" type="body"/>
          </p:nvPr>
        </p:nvSpPr>
        <p:spPr>
          <a:xfrm>
            <a:off x="217715" y="1654974"/>
            <a:ext cx="4685755" cy="4687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3" type="body"/>
          </p:nvPr>
        </p:nvSpPr>
        <p:spPr>
          <a:xfrm>
            <a:off x="5052059" y="802703"/>
            <a:ext cx="4647417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3"/>
          <p:cNvSpPr txBox="1"/>
          <p:nvPr>
            <p:ph idx="4" type="body"/>
          </p:nvPr>
        </p:nvSpPr>
        <p:spPr>
          <a:xfrm>
            <a:off x="5052060" y="1654973"/>
            <a:ext cx="4647416" cy="4687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0" type="dt"/>
          </p:nvPr>
        </p:nvSpPr>
        <p:spPr>
          <a:xfrm>
            <a:off x="891542" y="6459787"/>
            <a:ext cx="200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1" type="ftr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13"/>
          <p:cNvSpPr txBox="1"/>
          <p:nvPr>
            <p:ph type="title"/>
          </p:nvPr>
        </p:nvSpPr>
        <p:spPr>
          <a:xfrm>
            <a:off x="217715" y="149874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algun Gothic"/>
              <a:buNone/>
              <a:defRPr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0" type="dt"/>
          </p:nvPr>
        </p:nvSpPr>
        <p:spPr>
          <a:xfrm>
            <a:off x="891542" y="6459787"/>
            <a:ext cx="200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1" type="ftr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 rot="5400000">
            <a:off x="2203966" y="-1129001"/>
            <a:ext cx="5509260" cy="9481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0" type="dt"/>
          </p:nvPr>
        </p:nvSpPr>
        <p:spPr>
          <a:xfrm>
            <a:off x="891542" y="6459787"/>
            <a:ext cx="200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1" type="ftr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algun Gothic"/>
              <a:buNone/>
              <a:defRPr b="1" i="0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217715" y="857250"/>
            <a:ext cx="9481762" cy="5509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30200" lvl="1" marL="914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◦"/>
              <a:defRPr b="0" i="0" sz="16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◦"/>
              <a:defRPr b="0" i="0" sz="16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91542" y="6459787"/>
            <a:ext cx="200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8"/>
          <p:cNvCxnSpPr/>
          <p:nvPr/>
        </p:nvCxnSpPr>
        <p:spPr>
          <a:xfrm>
            <a:off x="217715" y="686713"/>
            <a:ext cx="9481762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"/>
          <p:cNvSpPr txBox="1"/>
          <p:nvPr>
            <p:ph type="ctrTitle"/>
          </p:nvPr>
        </p:nvSpPr>
        <p:spPr>
          <a:xfrm>
            <a:off x="381419" y="777240"/>
            <a:ext cx="9143162" cy="25521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3600"/>
              <a:t>EVA 과제 월간 계획</a:t>
            </a:r>
            <a:endParaRPr/>
          </a:p>
        </p:txBody>
      </p:sp>
      <p:pic>
        <p:nvPicPr>
          <p:cNvPr id="69" name="Google Shape;6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769" y="5811387"/>
            <a:ext cx="2516065" cy="39467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"/>
          <p:cNvSpPr txBox="1"/>
          <p:nvPr/>
        </p:nvSpPr>
        <p:spPr>
          <a:xfrm>
            <a:off x="1019175" y="3935295"/>
            <a:ext cx="8172450" cy="1469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포항공과대학교 산업경영공학과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연구 책임자: 송민석 교수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(mssong@postech.ac.kr, 010-9498-9285) 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4월 월간 계획</a:t>
            </a:r>
            <a:endParaRPr/>
          </a:p>
        </p:txBody>
      </p:sp>
      <p:sp>
        <p:nvSpPr>
          <p:cNvPr id="76" name="Google Shape;76;p2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개요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4월 목표는 EVA 연동 전 단계의 독립형 1차 프로토타입 확보로 설정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1차 프로토타입은 사전 녹화 영상 기준으로 우선 구현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속도 추정은 초기에는 절대속도 정밀 추정보다 relative score / 구간형 속도 판별 중심으로 구현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개발 착수 준비와 베이스라인 검증 중심으로 운영</a:t>
            </a:r>
            <a:endParaRPr/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참고 사항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사전 녹화된 CCTV성 영상 기준의 독립형 1차 프로토타입 우선 제작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LG 실무진 협의를 통해 EVA 연동에 필요한 인터페이스 및 운영 제약 조건 구체화 필요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추후 실제 연동 및 고도화 단계로 진입</a:t>
            </a:r>
            <a:endParaRPr/>
          </a:p>
          <a:p>
            <a:pPr indent="-2286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4월 1주차 (4월 6일 ~ 4월 12일)</a:t>
            </a:r>
            <a:endParaRPr/>
          </a:p>
        </p:txBody>
      </p:sp>
      <p:sp>
        <p:nvSpPr>
          <p:cNvPr id="83" name="Google Shape;83;p3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주간 목표: </a:t>
            </a:r>
            <a:r>
              <a:rPr b="0" lang="en-US"/>
              <a:t>프로젝트 착수 및 기술 베이스라인 정리, 1차 프로토타입 범위 고정</a:t>
            </a:r>
            <a:endParaRPr/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LG 실무진 kickoff 미팅 대응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EVA 측 입력 데이터 형태, 운영 FPS, 기대 출력 형태, 연동 방식 관련 질의 정리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현재 확보 가능한 영상 형태(mp4/RTSP/스틸 이미지) 확인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실제 서비스 연동과 4월 프로토타입의 경계를 내부적으로 정리</a:t>
            </a:r>
            <a:endParaRPr/>
          </a:p>
          <a:p>
            <a:pPr indent="-2286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1차 프로토타입 범위 명문화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입력: 단일 mp4 영상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출력: 추적 시각화 영상 + 객체별 속도 로그(JSON/CSV) + 속도 구간 판별 결과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대상 클래스: 차량류 우선, 필요 시 1개 클래스만 먼저 고정</a:t>
            </a:r>
            <a:endParaRPr/>
          </a:p>
          <a:p>
            <a:pPr indent="-2286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개발 환경 구성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Python/PyTorch 환경 정리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기본 inference 가능 여부 점검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코드 저장소 구조 수립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4월 1주차 (4월 6일 ~ 4월 12일)</a:t>
            </a:r>
            <a:endParaRPr/>
          </a:p>
        </p:txBody>
      </p:sp>
      <p:sp>
        <p:nvSpPr>
          <p:cNvPr id="90" name="Google Shape;90;p4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베이스라인 기술 후보 사전 점검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detector 1종 선정 후보 검토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tracker 1종 선정 후보 검토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짧은 샘플 영상으로 detection/tracking sample test 수행</a:t>
            </a:r>
            <a:endParaRPr/>
          </a:p>
          <a:p>
            <a:pPr indent="-2286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데이터 준비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실험용 영상 1~2개 확보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프레임 추출 및 간단한 수동 검토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4월 2주차 (4월 13일 ~ 4월 19일)</a:t>
            </a:r>
            <a:endParaRPr/>
          </a:p>
        </p:txBody>
      </p:sp>
      <p:sp>
        <p:nvSpPr>
          <p:cNvPr id="97" name="Google Shape;97;p5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주간 목표: </a:t>
            </a:r>
            <a:r>
              <a:rPr b="0" lang="en-US"/>
              <a:t>객체 검출-추적 기반의 기본 파이프라인 구성</a:t>
            </a:r>
            <a:endParaRPr/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detector 확정 및 추론 파이프라인 구현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영상 입력 → 프레임 단위 추론 → bbox/class/confidence 산출</a:t>
            </a:r>
            <a:endParaRPr/>
          </a:p>
          <a:p>
            <a:pPr indent="-2286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tracker 연동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detection 결과를 tracker에 연결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객체별 track id 유지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누락 프레임/끊김 발생 양상 확인</a:t>
            </a:r>
            <a:endParaRPr/>
          </a:p>
          <a:p>
            <a:pPr indent="-2286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대표점 추출 로직 구현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bbox 중심점 또는 하단 중심점 등 대표 좌표 정의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객체별 프레임-대표점 시계열 저장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4월 2주차 (4월 13일 ~ 4월 19일)</a:t>
            </a:r>
            <a:endParaRPr/>
          </a:p>
        </p:txBody>
      </p:sp>
      <p:sp>
        <p:nvSpPr>
          <p:cNvPr id="104" name="Google Shape;104;p6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결과 저장 구조 구현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frame_id, object_id, bbox, representative_point, detection_score 기록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CSV/JSON 저장</a:t>
            </a:r>
            <a:endParaRPr/>
          </a:p>
          <a:p>
            <a:pPr indent="-2286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시각화 모듈 구현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bbox, track id, representative point가 표시된 overlay 영상 생성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4월 3주차 (4월 20일 ~ 4월 26일)</a:t>
            </a:r>
            <a:endParaRPr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주간 목표: </a:t>
            </a:r>
            <a:r>
              <a:rPr b="0" lang="en-US"/>
              <a:t>속도 signal 계산 및 속도 구간 판별 기능 추가</a:t>
            </a:r>
            <a:endParaRPr b="0"/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속도 계산 모듈 구현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객체별 대표점 시계열 기반 프레임 간 이동량 계산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시간 간격 반영한 speed signal 산출</a:t>
            </a:r>
            <a:endParaRPr/>
          </a:p>
          <a:p>
            <a:pPr indent="-2286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초기 속도 판별 방식 구현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relative speed score 기반 slow/normal/fast 구간화</a:t>
            </a:r>
            <a:endParaRPr/>
          </a:p>
          <a:p>
            <a:pPr indent="-2286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메타정보 구조화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object_id, trajectory summary, speed_score, speed_label, event_flag 을 담는 JSON 포맷 설계</a:t>
            </a:r>
            <a:endParaRPr/>
          </a:p>
          <a:p>
            <a:pPr indent="-2286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결과 출력 정리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객체별 속도 로그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영상 overlay에 속도 라벨 또는 speed score 표시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4월 4주차 (4월 27일 ~ 5월 3일)</a:t>
            </a:r>
            <a:endParaRPr/>
          </a:p>
        </p:txBody>
      </p:sp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217715" y="879231"/>
            <a:ext cx="9481762" cy="5828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주간 목표: </a:t>
            </a:r>
            <a:r>
              <a:rPr b="0" lang="en-US"/>
              <a:t>1차 프로토타입 시연 패키지 구성</a:t>
            </a:r>
            <a:endParaRPr/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파이프라인 통합 정리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detection / tracking / speed estimation / labeling / result export 모듈 정리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실행 스크립트 일원화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프로토타입 안정화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샘플 영상 2~3개 기준 반복 실행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오류 발생 조건 및 한계 정리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파라미터 최소 조정으로 재현성 확보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결과물 패키징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demo 영상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코드 실행 방법 문서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입력/출력 예시 파일</a:t>
            </a:r>
            <a:endParaRPr/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4월 4주차 (4월 27일 ~ 5월 3일)</a:t>
            </a:r>
            <a:endParaRPr/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217715" y="879231"/>
            <a:ext cx="9481762" cy="5828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중간 공유용 문서 초안 작성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4월 수행 내용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현재 구현 범위</a:t>
            </a:r>
            <a:endParaRPr/>
          </a:p>
          <a:p>
            <a:pPr indent="-2286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EVA 연계 관점 정리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향후 EVA 연동 시 필요한 입력/출력 인터페이스 정리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실시간 연동 시 추가 고려사항 정리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저FPS 환경 대응, 다중 카메라, latency, VLM 연동 포인트 등 미결 항목 정리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목표 결과물</a:t>
            </a:r>
            <a:endParaRPr/>
          </a:p>
        </p:txBody>
      </p:sp>
      <p:sp>
        <p:nvSpPr>
          <p:cNvPr id="132" name="Google Shape;132;p19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로컬 독립 실행형 1차 프로토타입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mp4 입력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객체 검출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객체 추적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대표점 시계열 생성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속도 신호 계산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속도 구간 판별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overlay 영상 및 JSON/CSV 출력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문서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프로토타입 범위 정의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기술 미결사항 및 리스크 목록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EVA 연동을 위한 인터페이스 요구사항 초안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추억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2016-06-08T13:50:06Z</dcterms:created>
  <dc:creator>Microsoft</dc:creator>
</cp:coreProperties>
</file>